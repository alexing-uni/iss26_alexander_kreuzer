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80744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19656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58568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75304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14216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53128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30952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931920"/>
            <a:ext cx="8138160" cy="228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" y="1325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cargoservice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502920" y="23957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the loading of containers into a ship's hold with a Differential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Robot: a distributed actor / micro-service system modelled in QAK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02920" y="32004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Kreuzer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Systems Engineering 2025/2026  -  DISI, University of Bologna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github.com/Alexing-uni/ISS26_Alexander_Kreuzer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customer's problem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Protobook ch. 31 - TF2026 requirements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07008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7043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+ display: the user requests a load, the display shows the answer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792224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7556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blinks while the system is engaged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4086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(sonar)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present if D &lt; DFREE/2 for ~3s; must arrive within 30s or disengage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2608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cargorobot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IOPort -&gt; slot5 (marker: barcode) -&gt; reserved slot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547872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1129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answer, hold state, 'Service working' / 'Out of service'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133088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965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service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sonar reads D &gt; DFREE for at least 3s (fault)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349240" y="923544"/>
            <a:ext cx="3456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hold = the DDR map  (X = row, Y = col)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1170432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15584" y="1170432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36208" y="1170432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56832" y="1170432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1170432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1170432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18704" y="1170432"/>
            <a:ext cx="420624" cy="420624"/>
          </a:xfrm>
          <a:prstGeom prst="rect">
            <a:avLst/>
          </a:prstGeom>
          <a:solidFill>
            <a:srgbClr val="E3F1E8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39328" y="1170432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94960" y="1591056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15584" y="1591056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36208" y="1591056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56832" y="1591056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77456" y="1591056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98080" y="1591056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8704" y="1591056"/>
            <a:ext cx="420624" cy="420624"/>
          </a:xfrm>
          <a:prstGeom prst="rect">
            <a:avLst/>
          </a:prstGeom>
          <a:solidFill>
            <a:srgbClr val="E3F1E8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9328" y="1591056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94960" y="2011680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15584" y="2011680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36208" y="2011680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56832" y="2011680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077456" y="2011680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98080" y="2011680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18704" y="2011680"/>
            <a:ext cx="420624" cy="420624"/>
          </a:xfrm>
          <a:prstGeom prst="rect">
            <a:avLst/>
          </a:prstGeom>
          <a:solidFill>
            <a:srgbClr val="E3F1E8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339328" y="2011680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394960" y="2432304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815584" y="2432304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36208" y="2432304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656832" y="2432304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077456" y="2432304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98080" y="2432304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18704" y="2432304"/>
            <a:ext cx="420624" cy="420624"/>
          </a:xfrm>
          <a:prstGeom prst="rect">
            <a:avLst/>
          </a:prstGeom>
          <a:solidFill>
            <a:srgbClr val="E3F1E8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39328" y="2432304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394960" y="2852928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815584" y="2852928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236208" y="2852928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56832" y="2852928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77456" y="2852928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98080" y="2852928"/>
            <a:ext cx="420624" cy="420624"/>
          </a:xfrm>
          <a:prstGeom prst="rect">
            <a:avLst/>
          </a:prstGeom>
          <a:solidFill>
            <a:srgbClr val="F6FAF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18704" y="2852928"/>
            <a:ext cx="420624" cy="420624"/>
          </a:xfrm>
          <a:prstGeom prst="rect">
            <a:avLst/>
          </a:prstGeom>
          <a:solidFill>
            <a:srgbClr val="E3F1E8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39328" y="2852928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94960" y="3273552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815584" y="3273552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36208" y="3273552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656832" y="3273552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77456" y="3273552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498080" y="3273552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918704" y="3273552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339328" y="3273552"/>
            <a:ext cx="420624" cy="420624"/>
          </a:xfrm>
          <a:prstGeom prst="rect">
            <a:avLst/>
          </a:prstGeom>
          <a:solidFill>
            <a:srgbClr val="3A4750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18704" y="1170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650" dirty="0"/>
          </a:p>
          <a:p>
            <a:pPr algn="ctr" indent="0" marL="0">
              <a:buNone/>
            </a:pPr>
            <a:r>
              <a:rPr lang="en-US" sz="650" i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5422392" y="1197864"/>
            <a:ext cx="365760" cy="3657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0" y="1170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5422392" y="2880360"/>
            <a:ext cx="365760" cy="365760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73" name="Text 71"/>
          <p:cNvSpPr/>
          <p:nvPr/>
        </p:nvSpPr>
        <p:spPr>
          <a:xfrm>
            <a:off x="5394960" y="2852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I/O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843016" y="1618488"/>
            <a:ext cx="36576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5" name="Text 73"/>
          <p:cNvSpPr/>
          <p:nvPr/>
        </p:nvSpPr>
        <p:spPr>
          <a:xfrm>
            <a:off x="5815584" y="1591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S1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104888" y="1618488"/>
            <a:ext cx="36576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7" name="Text 75"/>
          <p:cNvSpPr/>
          <p:nvPr/>
        </p:nvSpPr>
        <p:spPr>
          <a:xfrm>
            <a:off x="7077456" y="1591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S2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843016" y="2459736"/>
            <a:ext cx="36576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9" name="Text 77"/>
          <p:cNvSpPr/>
          <p:nvPr/>
        </p:nvSpPr>
        <p:spPr>
          <a:xfrm>
            <a:off x="5815584" y="2432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104888" y="2459736"/>
            <a:ext cx="36576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1" name="Text 79"/>
          <p:cNvSpPr/>
          <p:nvPr/>
        </p:nvSpPr>
        <p:spPr>
          <a:xfrm>
            <a:off x="7077456" y="2432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S4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7525512" y="2039112"/>
            <a:ext cx="365760" cy="365760"/>
          </a:xfrm>
          <a:prstGeom prst="rect">
            <a:avLst/>
          </a:prstGeom>
          <a:solidFill>
            <a:srgbClr val="2C8C5A"/>
          </a:solidFill>
          <a:ln/>
        </p:spPr>
      </p:sp>
      <p:sp>
        <p:nvSpPr>
          <p:cNvPr id="83" name="Text 81"/>
          <p:cNvSpPr/>
          <p:nvPr/>
        </p:nvSpPr>
        <p:spPr>
          <a:xfrm>
            <a:off x="749808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S5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349240" y="3739896"/>
            <a:ext cx="3547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S1..S4 = load slots · S5 = marking · grey = obstacles/wall · green = free passage column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process: incremental prototypes (Scrum)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Sprint = a complete subsystem, executed and tested; versioned _vN documents on the site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07008"/>
            <a:ext cx="8229600" cy="786384"/>
          </a:xfrm>
          <a:prstGeom prst="rect">
            <a:avLst/>
          </a:prstGeom>
          <a:solidFill>
            <a:srgbClr val="F7FAFD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07008"/>
            <a:ext cx="1234440" cy="78638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0700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28800" y="126187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formalization, macro-parts, core business, first TestPlans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Sprint0_v1 + qak model + Hold POJO tested (16 PASS)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75688"/>
            <a:ext cx="8229600" cy="786384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075688"/>
            <a:ext cx="1234440" cy="78638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07568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28800" y="213055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core: loadrequest -&gt; transport with the cargorobot; sensor; 30s timeout -&gt; disengage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Sprint1_v1 + prototype run with robotsmart/VirtualRobot (20 PASS)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8229600" cy="786384"/>
          </a:xfrm>
          <a:prstGeom prst="rect">
            <a:avLst/>
          </a:prstGeom>
          <a:solidFill>
            <a:srgbClr val="F7FAFD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944368"/>
            <a:ext cx="1234440" cy="78638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94436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828800" y="299923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service from the raw sonar reading; recovery; display as a web-gui (MQTT/websocket)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Sprint2_v1 + demo TP1+TP5+TP6 in a single run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13048"/>
            <a:ext cx="8229600" cy="786384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813048"/>
            <a:ext cx="1234440" cy="786384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81304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828800" y="386791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= interactive web-gui (pushbutton + playable sensor) opened by the app; marker actor; automated TP1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Sprint3_v1 + final system (29 PASS) + slides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analysis: the nature of the components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the TYPE (boundary / pojo / service / actor), then the technology - analysis drives the design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704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84832" y="1152144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2084832" y="115214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03320" y="117043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user&lt;-&gt;system boundary: pushbutton+sensor (input), display (output) -&gt; realized as a web-gui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167792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cargoservice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084832" y="1659636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2084832" y="165963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03320" y="167792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(drives the loading session) + reactive (requests, sensor, timeout)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2185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cargorobot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084832" y="2167128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2084832" y="216712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external SERVICE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703320" y="2185416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robotsmart: moverobot(X,Y,STEPTIME) -&gt; moverobotok | moverobotfailed (A*)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6929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(sonar)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084832" y="2674620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2084832" y="26746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source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703320" y="269290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datum distance(D) - format of the real PicoW; web-gui or hardware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2004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84832" y="3182112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2084832" y="318211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POJO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703320" y="32004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state, invoked synchronously; unit-tested separately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37078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084832" y="3689604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2084832" y="368960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703320" y="370789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in slot5 and SIGNALS markingDone(barcode)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315968"/>
            <a:ext cx="8229600" cy="512064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31596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of analysis: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understand WHAT each part is (a boundary, a service, an actor), then HOW to realize it. The web-gui is not aesthetics: it is the realization of the IOPort boundary.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IOPort as an interactive web-gui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boundary: SERVED and OPENED by the application (Sprint 2 review)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34440"/>
            <a:ext cx="2651760" cy="18288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34440"/>
            <a:ext cx="2651760" cy="42062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34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PUSHBUTTON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1755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 PRESS  ]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21792" y="2157984"/>
            <a:ext cx="2322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button; emits </a:t>
            </a:r>
            <a:pPr algn="ctr" indent="0" marL="0">
              <a:buNone/>
            </a:pPr>
            <a:r>
              <a:rPr lang="en-US" sz="10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loadrequest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an EVENT (a notification, not a reply)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3246120" y="1234440"/>
            <a:ext cx="2651760" cy="18288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234440"/>
            <a:ext cx="2651760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234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 (slider)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46120" y="1755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0 --|--- 100 cm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410712" y="2157984"/>
            <a:ext cx="2322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move the container: </a:t>
            </a:r>
            <a:pPr algn="ct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distance(D)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~1/s. No PicoW, no hard-coded code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035040" y="1234440"/>
            <a:ext cx="2651760" cy="18288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234440"/>
            <a:ext cx="2651760" cy="420624"/>
          </a:xfrm>
          <a:prstGeom prst="rect">
            <a:avLst/>
          </a:prstGeom>
          <a:solidFill>
            <a:srgbClr val="2C8C5A"/>
          </a:solidFill>
          <a:ln/>
        </p:spPr>
      </p:sp>
      <p:sp>
        <p:nvSpPr>
          <p:cNvPr id="20" name="Text 18"/>
          <p:cNvSpPr/>
          <p:nvPr/>
        </p:nvSpPr>
        <p:spPr>
          <a:xfrm>
            <a:off x="6035040" y="1234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35040" y="1755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C8C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reserved / OOS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199632" y="2157984"/>
            <a:ext cx="2322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</a:t>
            </a:r>
            <a:pPr algn="ctr" indent="0" marL="0">
              <a:buNone/>
            </a:pPr>
            <a:r>
              <a:rPr lang="en-US" sz="108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ctr" indent="0" marL="0">
              <a:buNone/>
            </a:pPr>
            <a:r>
              <a:rPr lang="en-US" sz="108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state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(full/free slots)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8229600" cy="749808"/>
          </a:xfrm>
          <a:prstGeom prst="rect">
            <a:avLst/>
          </a:prstGeom>
          <a:solidFill>
            <a:srgbClr val="F7FA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918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web + MQTT over websocket:  </a:t>
            </a:r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speaks the SAME protocol as the system and the real PicoW (msg(...)). The physical device replaces the GUI </a:t>
            </a:r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changing a line</a:t>
            </a:r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cargoservice (device transparency). Pushbutton and sensor use SEPARATE channels.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and OPENED by the app: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WebIoPort = a small HTTP server (already in the JDK, no new dependency) serves ioport.html on :8095 and opens the browser. The IOPort comes 'online' with the system, not opened by hand.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architecture of the prototype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11880" y="2148840"/>
            <a:ext cx="1965960" cy="960120"/>
          </a:xfrm>
          <a:prstGeom prst="rect">
            <a:avLst/>
          </a:prstGeom>
          <a:solidFill>
            <a:srgbClr val="21295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11880" y="2148840"/>
            <a:ext cx="1965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QActor (FSM) + Hold POJO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325880"/>
            <a:ext cx="1783080" cy="1051560"/>
          </a:xfrm>
          <a:prstGeom prst="rect">
            <a:avLst/>
          </a:prstGeom>
          <a:solidFill>
            <a:srgbClr val="E8893D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325880"/>
            <a:ext cx="178308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WEB-GUI IOPort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+ sensor + display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served/opened by WebIoPort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40280" y="1691640"/>
            <a:ext cx="1371600" cy="640080"/>
          </a:xfrm>
          <a:prstGeom prst="line">
            <a:avLst/>
          </a:prstGeom>
          <a:noFill/>
          <a:ln w="2159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240280" y="14630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loadrequest  [event]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5577840" y="2788920"/>
            <a:ext cx="-3337560" cy="-594360"/>
          </a:xfrm>
          <a:prstGeom prst="line">
            <a:avLst/>
          </a:prstGeom>
          <a:noFill/>
          <a:ln w="21590">
            <a:solidFill>
              <a:srgbClr val="2C8C5A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468880" y="2670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show(answer, hold state)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554480" cy="713232"/>
          </a:xfrm>
          <a:prstGeom prst="rect">
            <a:avLst/>
          </a:prstGeom>
          <a:solidFill>
            <a:srgbClr val="1C7293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246120"/>
            <a:ext cx="155448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sensormonitor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~3s window on 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88720" y="2377440"/>
            <a:ext cx="0" cy="868680"/>
          </a:xfrm>
          <a:prstGeom prst="line">
            <a:avLst/>
          </a:prstGeom>
          <a:noFill/>
          <a:ln w="2159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5720" y="274320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distance(D)  [event]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2011680" y="3520440"/>
            <a:ext cx="1600200" cy="-685800"/>
          </a:xfrm>
          <a:prstGeom prst="line">
            <a:avLst/>
          </a:prstGeom>
          <a:noFill/>
          <a:ln w="2159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645920" y="3584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containerInPlace / outofservice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7360920" y="1143000"/>
            <a:ext cx="1325880" cy="640080"/>
          </a:xfrm>
          <a:prstGeom prst="rect">
            <a:avLst/>
          </a:prstGeom>
          <a:solidFill>
            <a:srgbClr val="2C8C5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60920" y="1143000"/>
            <a:ext cx="13258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TP1 PASS/FAIL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80960" y="1783080"/>
            <a:ext cx="-2103120" cy="502920"/>
          </a:xfrm>
          <a:prstGeom prst="line">
            <a:avLst/>
          </a:prstGeom>
          <a:noFill/>
          <a:ln w="21590">
            <a:solidFill>
              <a:srgbClr val="2C8C5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669280" y="16276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loadrequest+sonaralarm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6858000" y="2331720"/>
            <a:ext cx="1828800" cy="713232"/>
          </a:xfrm>
          <a:prstGeom prst="rect">
            <a:avLst/>
          </a:prstGeom>
          <a:solidFill>
            <a:srgbClr val="065A82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58000" y="2331720"/>
            <a:ext cx="182880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robotsmart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ExternalQActor (8020)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577840" y="2633472"/>
            <a:ext cx="1280160" cy="0"/>
          </a:xfrm>
          <a:prstGeom prst="line">
            <a:avLst/>
          </a:prstGeom>
          <a:noFill/>
          <a:ln w="2159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504688" y="235000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moverobot(X,Y,345)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6858000" y="3383280"/>
            <a:ext cx="1828800" cy="566928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858000" y="3383280"/>
            <a:ext cx="182880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VirtualRobot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WebGL scene :8090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772400" y="3044952"/>
            <a:ext cx="0" cy="338328"/>
          </a:xfrm>
          <a:prstGeom prst="line">
            <a:avLst/>
          </a:prstGeom>
          <a:noFill/>
          <a:ln w="2159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697480" y="4069080"/>
            <a:ext cx="1691640" cy="603504"/>
          </a:xfrm>
          <a:prstGeom prst="rect">
            <a:avLst/>
          </a:prstGeom>
          <a:solidFill>
            <a:srgbClr val="2C8C5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697480" y="4069080"/>
            <a:ext cx="1691640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slot5: barcode bcN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06240" y="3108960"/>
            <a:ext cx="-640080" cy="960120"/>
          </a:xfrm>
          <a:prstGeom prst="line">
            <a:avLst/>
          </a:prstGeom>
          <a:noFill/>
          <a:ln w="21590">
            <a:solidFill>
              <a:srgbClr val="2C8C5A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2331720" y="36393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domark / markingDone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4846320" y="4160520"/>
            <a:ext cx="2377440" cy="512064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846320" y="4160520"/>
            <a:ext cx="237744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engaged ; emit loaddone(SLOT)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029200" y="3108960"/>
            <a:ext cx="457200" cy="1051560"/>
          </a:xfrm>
          <a:prstGeom prst="line">
            <a:avLst/>
          </a:prstGeom>
          <a:noFill/>
          <a:ln w="2159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choices (and why)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the abstraction gap while staying replaceable and robust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34440"/>
            <a:ext cx="475488" cy="475488"/>
          </a:xfrm>
          <a:prstGeom prst="ellipse">
            <a:avLst/>
          </a:prstGeom>
          <a:solidFill>
            <a:srgbClr val="E8893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3000" y="1179576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= interactive web-gui, opened by the app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(loadrequest EVENT) + playable sensor (distance(D)) + display: the boundary is served and opened by WebIoPort (a JDK HTTP server)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21408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21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2066544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datum in the real device format, separate channels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sonar produces distance(D) like the PicoW (sonarMqtt.py); pushbutton and sensor on SEPARATE MQTT topics so each message is parsed by one actor only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008376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008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43000" y="2953512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sensormonitor: from data to logical notifications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"for at least 3s" = state + time -&gt; a dedicated actor; DFREE=60 and the 3s window are PARAMETERS (to be tuned with the customer)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895344"/>
            <a:ext cx="475488" cy="475488"/>
          </a:xfrm>
          <a:prstGeom prst="ellipse">
            <a:avLst/>
          </a:prstGeom>
          <a:solidFill>
            <a:srgbClr val="2C8C5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895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840480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by design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moverobotfailed -&gt; retry / slot freed and service available; stale notifications discarded; one request at a time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and live demo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TestPlan + interactive web-gui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88720"/>
            <a:ext cx="3977640" cy="34290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1627632"/>
            <a:ext cx="3611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TP1 (AUTOMATED, tester actor)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loadrequest+sonaralarm -&gt; getholdstate -&gt; *** TP1 PASS ***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TP-GUI  interactive IOPort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-&gt; load; slider -&gt; presence / Out of service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TP5/TP6  Out of service and recovery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TP7 marking (barcode)  |  TP8 stale notifications discarded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Unit: TestHold 29 PASS, 0 FAIL  |  build: SUCCESS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1234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scenario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138928" y="1691640"/>
            <a:ext cx="0" cy="260604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673352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5349240" y="16276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OPENS the web-gui (:8095)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56632" y="2057400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5349240" y="20116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-&gt; reserved(slot1); LED 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56632" y="2441448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349240" y="23957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D=20 (presence) -&gt; transport; marker bc1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56632" y="2825496"/>
            <a:ext cx="164592" cy="164592"/>
          </a:xfrm>
          <a:prstGeom prst="ellipse">
            <a:avLst/>
          </a:prstGeom>
          <a:solidFill>
            <a:srgbClr val="2C8C5A"/>
          </a:solidFill>
          <a:ln/>
        </p:spPr>
      </p:sp>
      <p:sp>
        <p:nvSpPr>
          <p:cNvPr id="20" name="Text 18"/>
          <p:cNvSpPr/>
          <p:nvPr/>
        </p:nvSpPr>
        <p:spPr>
          <a:xfrm>
            <a:off x="5349240" y="2779776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~40s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display: slot1=FULL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56632" y="3209544"/>
            <a:ext cx="164592" cy="164592"/>
          </a:xfrm>
          <a:prstGeom prst="ellipse">
            <a:avLst/>
          </a:prstGeom>
          <a:solidFill>
            <a:srgbClr val="2C8C5A"/>
          </a:solidFill>
          <a:ln/>
        </p:spPr>
      </p:sp>
      <p:sp>
        <p:nvSpPr>
          <p:cNvPr id="22" name="Text 20"/>
          <p:cNvSpPr/>
          <p:nvPr/>
        </p:nvSpPr>
        <p:spPr>
          <a:xfrm>
            <a:off x="5349240" y="316382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slot2, slot3, slot4 -&gt; whole hold FULL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56632" y="3593592"/>
            <a:ext cx="164592" cy="16459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5349240" y="354787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D=90 -&gt; 'Out of service' -&gt; retrylater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56632" y="3977640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5349240" y="39319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back to normal -&gt; 'serviceworking'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809744"/>
            <a:ext cx="8229600" cy="329184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480974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 -&gt;  WebGL scene :8090 (keep it visible!)  -&gt;  robotsmart26  -&gt;  gradlew run (opens the web-gui)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882128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83296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84464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85632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069848"/>
            <a:ext cx="82296" cy="713232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02412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customer's requirements are covered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(pushbutton+display) as a web-gui; LED; 30s/disengage; transport with marking+barcode; display (hold state, Service working / Out of service); sonar fault. The whole hold loads (slot1..slot4 = FULL).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938528"/>
            <a:ext cx="82296" cy="713232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9280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and replaceable boundary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web-gui (served and opened by the app) and the real PicoW speak the same message: you play with the sensor from the slider, the hardware takes over with no changes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807208"/>
            <a:ext cx="82296" cy="713232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76148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executed/tested at every Sprint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TestHold 16/20/29 PASS; end-to-end demo; automated TP1 with the tester actor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" y="3675888"/>
            <a:ext cx="7955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from testing (rigour): 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provisional slot3=(3,2)/slot4=(5,3) fell on obstacle cells of the DDR map (tf25map) -&gt; A* returned an empty plan (the robot went to the wrong place). Positions confirmed on the customer's map: slot1=(1,1) slot2=(1,4) slot3=(3,1) slot4=(3,4) (load), slot5=(2,5) (marking). Open points to confirm: DFREE &amp; the 3s window; the Out-of-service recovery policy; the real PicoW in place of the web-gui.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480560"/>
            <a:ext cx="8138160" cy="182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60857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Alexander.kreuzer@studio.unibo.it   |   github.com/Alexing-uni/ISS26_Alexander_Kreuzer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TemaFinale26 - cargoservice</dc:title>
  <dc:subject>PptxGenJS Presentation</dc:subject>
  <dc:creator>Alexander Kreuzer</dc:creator>
  <cp:lastModifiedBy>Alexander Kreuzer</cp:lastModifiedBy>
  <cp:revision>1</cp:revision>
  <dcterms:created xsi:type="dcterms:W3CDTF">2026-06-17T22:17:44Z</dcterms:created>
  <dcterms:modified xsi:type="dcterms:W3CDTF">2026-06-17T22:17:44Z</dcterms:modified>
</cp:coreProperties>
</file>