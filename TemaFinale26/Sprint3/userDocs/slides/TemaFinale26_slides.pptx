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041648"/>
            <a:ext cx="310896" cy="31089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1832" y="4041648"/>
            <a:ext cx="310896" cy="310896"/>
          </a:xfrm>
          <a:prstGeom prst="rect">
            <a:avLst/>
          </a:prstGeom>
          <a:solidFill>
            <a:srgbClr val="1C7293">
              <a:alpha val="22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80744" y="4041648"/>
            <a:ext cx="310896" cy="31089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819656" y="4041648"/>
            <a:ext cx="310896" cy="31089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58568" y="4041648"/>
            <a:ext cx="310896" cy="310896"/>
          </a:xfrm>
          <a:prstGeom prst="rect">
            <a:avLst/>
          </a:prstGeom>
          <a:solidFill>
            <a:srgbClr val="1C7293">
              <a:alpha val="22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4041648"/>
            <a:ext cx="310896" cy="31089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4041648"/>
            <a:ext cx="310896" cy="310896"/>
          </a:xfrm>
          <a:prstGeom prst="rect">
            <a:avLst/>
          </a:prstGeom>
          <a:solidFill>
            <a:srgbClr val="1C7293">
              <a:alpha val="22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75304" y="4041648"/>
            <a:ext cx="310896" cy="310896"/>
          </a:xfrm>
          <a:prstGeom prst="rect">
            <a:avLst/>
          </a:prstGeom>
          <a:solidFill>
            <a:srgbClr val="1C7293">
              <a:alpha val="22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014216" y="4041648"/>
            <a:ext cx="310896" cy="31089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53128" y="4041648"/>
            <a:ext cx="310896" cy="310896"/>
          </a:xfrm>
          <a:prstGeom prst="rect">
            <a:avLst/>
          </a:prstGeom>
          <a:solidFill>
            <a:srgbClr val="1C7293">
              <a:alpha val="22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92040" y="4041648"/>
            <a:ext cx="310896" cy="31089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30952" y="4041648"/>
            <a:ext cx="310896" cy="310896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3931920"/>
            <a:ext cx="8138160" cy="2286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TemaFinale26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57200" y="13258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cargoservice</a:t>
            </a:r>
            <a:endParaRPr lang="en-US" sz="5600" dirty="0"/>
          </a:p>
        </p:txBody>
      </p:sp>
      <p:sp>
        <p:nvSpPr>
          <p:cNvPr id="17" name="Text 15"/>
          <p:cNvSpPr/>
          <p:nvPr/>
        </p:nvSpPr>
        <p:spPr>
          <a:xfrm>
            <a:off x="502920" y="23957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Automating the loading of containers into a ship's hold with a Differential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Robot: a distributed actor / micro-service system modelled in QAK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502920" y="32004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Alexander Kreuzer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Systems Engineering 2025/2026  -  DISI, University of Bologna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E88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github.com/Alexing-uni/ISS26_Alexander_Kreuzer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customer's problem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Protobook ch. 31 - TF2026 requirements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7882128" y="310896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83296" y="310896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84464" y="310896"/>
            <a:ext cx="146304" cy="146304"/>
          </a:xfrm>
          <a:prstGeom prst="rect">
            <a:avLst/>
          </a:prstGeom>
          <a:solidFill>
            <a:srgbClr val="E8893D">
              <a:alpha val="22000"/>
            </a:srgbClr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310896"/>
            <a:ext cx="146304" cy="146304"/>
          </a:xfrm>
          <a:prstGeom prst="rect">
            <a:avLst/>
          </a:prstGeom>
          <a:solidFill>
            <a:srgbClr val="E8893D">
              <a:alpha val="22000"/>
            </a:srgbClr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207008"/>
            <a:ext cx="82296" cy="310896"/>
          </a:xfrm>
          <a:prstGeom prst="rect">
            <a:avLst/>
          </a:prstGeom>
          <a:solidFill>
            <a:srgbClr val="E8893D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170432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IOPort   </a:t>
            </a:r>
            <a:pPr indent="0" marL="0"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pushbutton + display: the user requests a load, the display shows the answer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1792224"/>
            <a:ext cx="82296" cy="310896"/>
          </a:xfrm>
          <a:prstGeom prst="rect">
            <a:avLst/>
          </a:prstGeom>
          <a:solidFill>
            <a:srgbClr val="E8893D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1755648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   </a:t>
            </a:r>
            <a:pPr indent="0" marL="0"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blinks while the system is engaged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2377440"/>
            <a:ext cx="82296" cy="310896"/>
          </a:xfrm>
          <a:prstGeom prst="rect">
            <a:avLst/>
          </a:prstGeom>
          <a:solidFill>
            <a:srgbClr val="E8893D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340864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(sonar)   </a:t>
            </a:r>
            <a:pPr indent="0" marL="0"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present if D &lt; DFREE/2 for ~3s; must arrive within 30s or disengage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2962656"/>
            <a:ext cx="82296" cy="310896"/>
          </a:xfrm>
          <a:prstGeom prst="rect">
            <a:avLst/>
          </a:prstGeom>
          <a:solidFill>
            <a:srgbClr val="E8893D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92608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cargorobot   </a:t>
            </a:r>
            <a:pPr indent="0" marL="0"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IOPort -&gt; slot5 (marker: barcode) -&gt; reserved slot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3547872"/>
            <a:ext cx="82296" cy="310896"/>
          </a:xfrm>
          <a:prstGeom prst="rect">
            <a:avLst/>
          </a:prstGeom>
          <a:solidFill>
            <a:srgbClr val="E8893D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11296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  </a:t>
            </a:r>
            <a:pPr indent="0" marL="0"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answer, hold state, 'Service working' / 'Out of service'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57200" y="4133088"/>
            <a:ext cx="82296" cy="310896"/>
          </a:xfrm>
          <a:prstGeom prst="rect">
            <a:avLst/>
          </a:prstGeom>
          <a:solidFill>
            <a:srgbClr val="E8893D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96512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service   </a:t>
            </a:r>
            <a:pPr indent="0" marL="0"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sonar reads D &gt; DFREE for at least 3s (fault)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40680" y="9601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hold as a grid (X,Y) - positions from the DDR map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532120" y="1234440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07608" y="1234440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83096" y="1234440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58584" y="1234440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34072" y="1234440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09560" y="1234440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32120" y="1709928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007608" y="1709928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83096" y="1709928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58584" y="1709928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34072" y="1709928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909560" y="1709928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532120" y="2185416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07608" y="2185416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83096" y="2185416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958584" y="2185416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34072" y="2185416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909560" y="2185416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32120" y="2660904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007608" y="2660904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83096" y="2660904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958584" y="2660904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34072" y="2660904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909560" y="2660904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532120" y="3136392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007608" y="3136392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483096" y="3136392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958584" y="3136392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434072" y="3136392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909560" y="3136392"/>
            <a:ext cx="475488" cy="475488"/>
          </a:xfrm>
          <a:prstGeom prst="rect">
            <a:avLst/>
          </a:prstGeom>
          <a:solidFill>
            <a:srgbClr val="F6FA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59552" y="1261872"/>
            <a:ext cx="420624" cy="420624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52" name="Text 50"/>
          <p:cNvSpPr/>
          <p:nvPr/>
        </p:nvSpPr>
        <p:spPr>
          <a:xfrm>
            <a:off x="5532120" y="12344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559552" y="3163824"/>
            <a:ext cx="420624" cy="420624"/>
          </a:xfrm>
          <a:prstGeom prst="rect">
            <a:avLst/>
          </a:prstGeom>
          <a:solidFill>
            <a:srgbClr val="E8893D"/>
          </a:solidFill>
          <a:ln/>
        </p:spPr>
      </p:sp>
      <p:sp>
        <p:nvSpPr>
          <p:cNvPr id="54" name="Text 52"/>
          <p:cNvSpPr/>
          <p:nvPr/>
        </p:nvSpPr>
        <p:spPr>
          <a:xfrm>
            <a:off x="5532120" y="31363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I/O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6035040" y="1737360"/>
            <a:ext cx="420624" cy="42062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56" name="Text 54"/>
          <p:cNvSpPr/>
          <p:nvPr/>
        </p:nvSpPr>
        <p:spPr>
          <a:xfrm>
            <a:off x="6007608" y="17099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7461504" y="1737360"/>
            <a:ext cx="420624" cy="42062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58" name="Text 56"/>
          <p:cNvSpPr/>
          <p:nvPr/>
        </p:nvSpPr>
        <p:spPr>
          <a:xfrm>
            <a:off x="7434072" y="17099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S2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6035040" y="2688336"/>
            <a:ext cx="420624" cy="42062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0" name="Text 58"/>
          <p:cNvSpPr/>
          <p:nvPr/>
        </p:nvSpPr>
        <p:spPr>
          <a:xfrm>
            <a:off x="6007608" y="26609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S3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7461504" y="2688336"/>
            <a:ext cx="420624" cy="42062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2" name="Text 60"/>
          <p:cNvSpPr/>
          <p:nvPr/>
        </p:nvSpPr>
        <p:spPr>
          <a:xfrm>
            <a:off x="7434072" y="26609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S4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7936992" y="2212848"/>
            <a:ext cx="420624" cy="420624"/>
          </a:xfrm>
          <a:prstGeom prst="rect">
            <a:avLst/>
          </a:prstGeom>
          <a:solidFill>
            <a:srgbClr val="2C8C5A"/>
          </a:solidFill>
          <a:ln/>
        </p:spPr>
      </p:sp>
      <p:sp>
        <p:nvSpPr>
          <p:cNvPr id="64" name="Text 62"/>
          <p:cNvSpPr/>
          <p:nvPr/>
        </p:nvSpPr>
        <p:spPr>
          <a:xfrm>
            <a:off x="7909560" y="21854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S5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5440680" y="36667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positions from the customer's map  |  S1..S4 = load slots, S5 = marking area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457200" y="4864608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TemaFinale26 - cargoservice  |  A. Kreuzer  |  ISS 2025/2026</a:t>
            </a:r>
            <a:endParaRPr lang="en-US" sz="850" dirty="0"/>
          </a:p>
        </p:txBody>
      </p:sp>
      <p:sp>
        <p:nvSpPr>
          <p:cNvPr id="67" name="Text 65"/>
          <p:cNvSpPr/>
          <p:nvPr/>
        </p:nvSpPr>
        <p:spPr>
          <a:xfrm>
            <a:off x="8641080" y="486460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process: incremental prototypes (Scrum)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Sprint = a complete subsystem, executed and tested; versioned _vN documents on the site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7882128" y="310896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83296" y="310896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84464" y="310896"/>
            <a:ext cx="146304" cy="146304"/>
          </a:xfrm>
          <a:prstGeom prst="rect">
            <a:avLst/>
          </a:prstGeom>
          <a:solidFill>
            <a:srgbClr val="E8893D">
              <a:alpha val="22000"/>
            </a:srgbClr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310896"/>
            <a:ext cx="146304" cy="146304"/>
          </a:xfrm>
          <a:prstGeom prst="rect">
            <a:avLst/>
          </a:prstGeom>
          <a:solidFill>
            <a:srgbClr val="E8893D">
              <a:alpha val="22000"/>
            </a:srgbClr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207008"/>
            <a:ext cx="8229600" cy="786384"/>
          </a:xfrm>
          <a:prstGeom prst="rect">
            <a:avLst/>
          </a:prstGeom>
          <a:solidFill>
            <a:srgbClr val="F7FAFD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207008"/>
            <a:ext cx="1234440" cy="78638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207008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Sprint 0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828800" y="1261872"/>
            <a:ext cx="6720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 </a:t>
            </a:r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formalization, macro-parts, core business, first TestPlans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2C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 </a:t>
            </a:r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Sprint0_v1 + qak model + Hold POJO tested (16 PASS)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075688"/>
            <a:ext cx="8229600" cy="786384"/>
          </a:xfrm>
          <a:prstGeom prst="rect">
            <a:avLst/>
          </a:prstGeom>
          <a:solidFill>
            <a:srgbClr val="EEF4FA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2075688"/>
            <a:ext cx="1234440" cy="78638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075688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Sprint 1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828800" y="2130552"/>
            <a:ext cx="6720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 </a:t>
            </a:r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executable core: loadrequest -&gt; transport with the cargorobot; sensor; 30s timeout -&gt; disengage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2C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 </a:t>
            </a:r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Sprint1_v1 + prototype run with robotsmart/VirtualRobot (20 PASS)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944368"/>
            <a:ext cx="8229600" cy="786384"/>
          </a:xfrm>
          <a:prstGeom prst="rect">
            <a:avLst/>
          </a:prstGeom>
          <a:solidFill>
            <a:srgbClr val="F7FAFD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944368"/>
            <a:ext cx="1234440" cy="78638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944368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Sprint 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828800" y="2999232"/>
            <a:ext cx="6720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 </a:t>
            </a:r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service from the raw sonar reading; recovery; display as a web-gui (MQTT/websocket)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2C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 </a:t>
            </a:r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Sprint2_v1 + demo TP1+TP5+TP6 in a single run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813048"/>
            <a:ext cx="8229600" cy="786384"/>
          </a:xfrm>
          <a:prstGeom prst="rect">
            <a:avLst/>
          </a:prstGeom>
          <a:solidFill>
            <a:srgbClr val="EEF4FA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3813048"/>
            <a:ext cx="1234440" cy="786384"/>
          </a:xfrm>
          <a:prstGeom prst="rect">
            <a:avLst/>
          </a:prstGeom>
          <a:solidFill>
            <a:srgbClr val="E8893D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3813048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Sprint 3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828800" y="3867912"/>
            <a:ext cx="6720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 </a:t>
            </a:r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IOPort = interactive web-gui (pushbutton + playable sensor) opened by the app; marker actor; automated TP1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2C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 </a:t>
            </a:r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Sprint3_v1 + final system (28 PASS) + slides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7200" y="4864608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TemaFinale26 - cargoservice  |  A. Kreuzer  |  ISS 2025/2026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641080" y="486460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Problem analysis: the nature of the components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the TYPE (boundary / pojo / service / actor), then the technology - analysis drives the design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7882128" y="310896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83296" y="310896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84464" y="310896"/>
            <a:ext cx="146304" cy="146304"/>
          </a:xfrm>
          <a:prstGeom prst="rect">
            <a:avLst/>
          </a:prstGeom>
          <a:solidFill>
            <a:srgbClr val="E8893D">
              <a:alpha val="22000"/>
            </a:srgbClr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310896"/>
            <a:ext cx="146304" cy="146304"/>
          </a:xfrm>
          <a:prstGeom prst="rect">
            <a:avLst/>
          </a:prstGeom>
          <a:solidFill>
            <a:srgbClr val="E8893D">
              <a:alpha val="22000"/>
            </a:srgbClr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17043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IOPort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084832" y="1152144"/>
            <a:ext cx="1481328" cy="274320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2084832" y="1152144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BOUNDARY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703320" y="1170432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user&lt;-&gt;system boundary: pushbutton+sensor (input), display (output) -&gt; realized as a web-gui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7200" y="167792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cargoservice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084832" y="1659636"/>
            <a:ext cx="1481328" cy="274320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2084832" y="1659636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ACTOR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703320" y="1677924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(drives the loading session) + reactive (requests, sensor, timeout)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2185416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cargorobot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084832" y="2167128"/>
            <a:ext cx="1481328" cy="274320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2084832" y="216712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external SERVICE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703320" y="2185416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robotsmart: moverobot(X,Y,STEPTIME) -&gt; moverobotok | moverobotfailed (A*)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7200" y="269290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(sonar)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084832" y="2674620"/>
            <a:ext cx="1481328" cy="274320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/>
        </p:spPr>
      </p:sp>
      <p:sp>
        <p:nvSpPr>
          <p:cNvPr id="22" name="Text 20"/>
          <p:cNvSpPr/>
          <p:nvPr/>
        </p:nvSpPr>
        <p:spPr>
          <a:xfrm>
            <a:off x="2084832" y="267462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source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703320" y="2692908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datum distance(D) - format of the real PicoW; web-gui or hardware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7200" y="32004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84832" y="3182112"/>
            <a:ext cx="1481328" cy="274320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2084832" y="318211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POJO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3703320" y="320040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 state, invoked synchronously; unit-tested separately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57200" y="370789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084832" y="3689604"/>
            <a:ext cx="1481328" cy="274320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2084832" y="3689604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ACTOR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3703320" y="3707892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in slot5 and SIGNALS markingDone(barcode)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57200" y="4315968"/>
            <a:ext cx="8229600" cy="512064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33" name="Text 31"/>
          <p:cNvSpPr/>
          <p:nvPr/>
        </p:nvSpPr>
        <p:spPr>
          <a:xfrm>
            <a:off x="566928" y="4315968"/>
            <a:ext cx="8046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8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of analysis: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understand WHAT each part is (a boundary, a service, an actor), then HOW to realize it. The web-gui is not aesthetics: it is the realization of the IOPort boundary.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4864608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TemaFinale26 - cargoservice  |  A. Kreuzer  |  ISS 2025/2026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8641080" y="486460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IOPort as an interactive web-gui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customer's boundary: SERVED and OPENED by the application (Sprint 2 review)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7882128" y="310896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83296" y="310896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84464" y="310896"/>
            <a:ext cx="146304" cy="146304"/>
          </a:xfrm>
          <a:prstGeom prst="rect">
            <a:avLst/>
          </a:prstGeom>
          <a:solidFill>
            <a:srgbClr val="E8893D">
              <a:alpha val="22000"/>
            </a:srgbClr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310896"/>
            <a:ext cx="146304" cy="146304"/>
          </a:xfrm>
          <a:prstGeom prst="rect">
            <a:avLst/>
          </a:prstGeom>
          <a:solidFill>
            <a:srgbClr val="E8893D">
              <a:alpha val="22000"/>
            </a:srgbClr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234440"/>
            <a:ext cx="2651760" cy="1828800"/>
          </a:xfrm>
          <a:prstGeom prst="rect">
            <a:avLst/>
          </a:prstGeom>
          <a:solidFill>
            <a:srgbClr val="EEF4FA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234440"/>
            <a:ext cx="2651760" cy="42062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23444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PUSHBUTTON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175564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  PRESS  ]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21792" y="2157984"/>
            <a:ext cx="232257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8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page button; emits </a:t>
            </a:r>
            <a:pPr algn="ctr" indent="0" marL="0">
              <a:buNone/>
            </a:pPr>
            <a:r>
              <a:rPr lang="en-US" sz="108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loadrequest</a:t>
            </a:r>
            <a:pPr algn="ctr" indent="0" marL="0">
              <a:buNone/>
            </a:pPr>
            <a:r>
              <a:rPr lang="en-US" sz="108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an EVENT (a notification, not a reply)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3246120" y="1234440"/>
            <a:ext cx="2651760" cy="1828800"/>
          </a:xfrm>
          <a:prstGeom prst="rect">
            <a:avLst/>
          </a:prstGeom>
          <a:solidFill>
            <a:srgbClr val="EEF4FA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46120" y="1234440"/>
            <a:ext cx="2651760" cy="42062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3246120" y="123444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SENSOR (slider)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246120" y="175564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0 --|--- 100 cm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3410712" y="2157984"/>
            <a:ext cx="232257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8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move the container: </a:t>
            </a:r>
            <a:pPr algn="ctr" indent="0" marL="0">
              <a:buNone/>
            </a:pPr>
            <a:r>
              <a:rPr lang="en-US" sz="108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distance(D)</a:t>
            </a:r>
            <a:pPr algn="ctr" indent="0" marL="0">
              <a:buNone/>
            </a:pPr>
            <a:r>
              <a:rPr lang="en-US" sz="108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~1/s. No PicoW, no hard-coded code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6035040" y="1234440"/>
            <a:ext cx="2651760" cy="1828800"/>
          </a:xfrm>
          <a:prstGeom prst="rect">
            <a:avLst/>
          </a:prstGeom>
          <a:solidFill>
            <a:srgbClr val="EEF4FA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035040" y="1234440"/>
            <a:ext cx="2651760" cy="420624"/>
          </a:xfrm>
          <a:prstGeom prst="rect">
            <a:avLst/>
          </a:prstGeom>
          <a:solidFill>
            <a:srgbClr val="2C8C5A"/>
          </a:solidFill>
          <a:ln/>
        </p:spPr>
      </p:sp>
      <p:sp>
        <p:nvSpPr>
          <p:cNvPr id="20" name="Text 18"/>
          <p:cNvSpPr/>
          <p:nvPr/>
        </p:nvSpPr>
        <p:spPr>
          <a:xfrm>
            <a:off x="6035040" y="123444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DISPLAY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035040" y="175564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C8C5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reserved / OOS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199632" y="2157984"/>
            <a:ext cx="232257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8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the </a:t>
            </a:r>
            <a:pPr algn="ctr" indent="0" marL="0">
              <a:buNone/>
            </a:pPr>
            <a:r>
              <a:rPr lang="en-US" sz="1080" b="1" dirty="0">
                <a:solidFill>
                  <a:srgbClr val="2C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pPr algn="ctr" indent="0" marL="0">
              <a:buNone/>
            </a:pPr>
            <a:r>
              <a:rPr lang="en-US" sz="108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the </a:t>
            </a:r>
            <a:pPr algn="ctr" indent="0" marL="0">
              <a:buNone/>
            </a:pPr>
            <a:r>
              <a:rPr lang="en-US" sz="1080" b="1" dirty="0">
                <a:solidFill>
                  <a:srgbClr val="2C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state</a:t>
            </a:r>
            <a:pPr algn="ctr" indent="0" marL="0">
              <a:buNone/>
            </a:pPr>
            <a:r>
              <a:rPr lang="en-US" sz="108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(full/free slots)</a:t>
            </a:r>
            <a:endParaRPr lang="en-US" sz="1080" dirty="0"/>
          </a:p>
        </p:txBody>
      </p:sp>
      <p:sp>
        <p:nvSpPr>
          <p:cNvPr id="23" name="Shape 21"/>
          <p:cNvSpPr/>
          <p:nvPr/>
        </p:nvSpPr>
        <p:spPr>
          <a:xfrm>
            <a:off x="457200" y="3246120"/>
            <a:ext cx="8229600" cy="749808"/>
          </a:xfrm>
          <a:prstGeom prst="rect">
            <a:avLst/>
          </a:prstGeom>
          <a:solidFill>
            <a:srgbClr val="F7FAFD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3291840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web + MQTT over websocket:  </a:t>
            </a:r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page speaks the SAME protocol as the system and the real PicoW (msg(...)). The physical device replaces the GUI </a:t>
            </a:r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changing a line</a:t>
            </a:r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cargoservice (device transparency). Pushbutton and sensor use SEPARATE channels.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41148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8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Served and OPENED by the app: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WebIoPort = a small HTTP server (already in the JDK, no new dependency) serves ioport.html on :8095 and opens the browser. The IOPort comes 'online' with the system, not opened by hand.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4864608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TemaFinale26 - cargoservice  |  A. Kreuzer  |  ISS 2025/2026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8641080" y="486460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 architecture of the prototype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7882128" y="310896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83296" y="310896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84464" y="310896"/>
            <a:ext cx="146304" cy="146304"/>
          </a:xfrm>
          <a:prstGeom prst="rect">
            <a:avLst/>
          </a:prstGeom>
          <a:solidFill>
            <a:srgbClr val="E8893D">
              <a:alpha val="22000"/>
            </a:srgbClr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85632" y="310896"/>
            <a:ext cx="146304" cy="146304"/>
          </a:xfrm>
          <a:prstGeom prst="rect">
            <a:avLst/>
          </a:prstGeom>
          <a:solidFill>
            <a:srgbClr val="E8893D">
              <a:alpha val="22000"/>
            </a:srgbClr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11880" y="2148840"/>
            <a:ext cx="1965960" cy="960120"/>
          </a:xfrm>
          <a:prstGeom prst="rect">
            <a:avLst/>
          </a:prstGeom>
          <a:solidFill>
            <a:srgbClr val="21295C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11880" y="2148840"/>
            <a:ext cx="1965960" cy="9601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CARGOSERVICE</a:t>
            </a:r>
            <a:endParaRPr lang="en-US" sz="120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QActor (FSM) + Hold POJO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325880"/>
            <a:ext cx="1783080" cy="1051560"/>
          </a:xfrm>
          <a:prstGeom prst="rect">
            <a:avLst/>
          </a:prstGeom>
          <a:solidFill>
            <a:srgbClr val="E8893D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" y="1325880"/>
            <a:ext cx="1783080" cy="10515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WEB-GUI IOPort</a:t>
            </a:r>
            <a:endParaRPr lang="en-US" sz="120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pushbutton + sensor + display</a:t>
            </a:r>
            <a:endParaRPr lang="en-US" sz="120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served/opened by WebIoPort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240280" y="1691640"/>
            <a:ext cx="1371600" cy="640080"/>
          </a:xfrm>
          <a:prstGeom prst="line">
            <a:avLst/>
          </a:prstGeom>
          <a:noFill/>
          <a:ln w="21590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2240280" y="146304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loadrequest  [event]</a:t>
            </a:r>
            <a:endParaRPr lang="en-US" sz="830" dirty="0"/>
          </a:p>
        </p:txBody>
      </p:sp>
      <p:sp>
        <p:nvSpPr>
          <p:cNvPr id="13" name="Shape 11"/>
          <p:cNvSpPr/>
          <p:nvPr/>
        </p:nvSpPr>
        <p:spPr>
          <a:xfrm>
            <a:off x="5577840" y="2788920"/>
            <a:ext cx="-3337560" cy="-594360"/>
          </a:xfrm>
          <a:prstGeom prst="line">
            <a:avLst/>
          </a:prstGeom>
          <a:noFill/>
          <a:ln w="21590">
            <a:solidFill>
              <a:srgbClr val="2C8C5A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2468880" y="267004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2C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show(answer, hold state)</a:t>
            </a:r>
            <a:endParaRPr lang="en-US" sz="83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554480" cy="713232"/>
          </a:xfrm>
          <a:prstGeom prst="rect">
            <a:avLst/>
          </a:prstGeom>
          <a:solidFill>
            <a:srgbClr val="1C7293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57200" y="3246120"/>
            <a:ext cx="1554480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sensormonitor</a:t>
            </a:r>
            <a:endParaRPr lang="en-US" sz="120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~3s window on 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188720" y="2377440"/>
            <a:ext cx="0" cy="868680"/>
          </a:xfrm>
          <a:prstGeom prst="line">
            <a:avLst/>
          </a:prstGeom>
          <a:noFill/>
          <a:ln w="2159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45720" y="274320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distance(D)  [event]</a:t>
            </a:r>
            <a:endParaRPr lang="en-US" sz="830" dirty="0"/>
          </a:p>
        </p:txBody>
      </p:sp>
      <p:sp>
        <p:nvSpPr>
          <p:cNvPr id="19" name="Shape 17"/>
          <p:cNvSpPr/>
          <p:nvPr/>
        </p:nvSpPr>
        <p:spPr>
          <a:xfrm>
            <a:off x="2011680" y="3520440"/>
            <a:ext cx="1600200" cy="-685800"/>
          </a:xfrm>
          <a:prstGeom prst="line">
            <a:avLst/>
          </a:prstGeom>
          <a:noFill/>
          <a:ln w="21590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645920" y="35844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containerInPlace / outofservice</a:t>
            </a:r>
            <a:endParaRPr lang="en-US" sz="830" dirty="0"/>
          </a:p>
        </p:txBody>
      </p:sp>
      <p:sp>
        <p:nvSpPr>
          <p:cNvPr id="21" name="Shape 19"/>
          <p:cNvSpPr/>
          <p:nvPr/>
        </p:nvSpPr>
        <p:spPr>
          <a:xfrm>
            <a:off x="7360920" y="1143000"/>
            <a:ext cx="1325880" cy="640080"/>
          </a:xfrm>
          <a:prstGeom prst="rect">
            <a:avLst/>
          </a:prstGeom>
          <a:solidFill>
            <a:srgbClr val="2C8C5A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360920" y="1143000"/>
            <a:ext cx="132588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tester</a:t>
            </a:r>
            <a:endParaRPr lang="en-US" sz="120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TP1 PASS/FAIL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680960" y="1783080"/>
            <a:ext cx="-2103120" cy="502920"/>
          </a:xfrm>
          <a:prstGeom prst="line">
            <a:avLst/>
          </a:prstGeom>
          <a:noFill/>
          <a:ln w="21590">
            <a:solidFill>
              <a:srgbClr val="2C8C5A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5669280" y="162763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2C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loadrequest+sonaralarm</a:t>
            </a:r>
            <a:endParaRPr lang="en-US" sz="830" dirty="0"/>
          </a:p>
        </p:txBody>
      </p:sp>
      <p:sp>
        <p:nvSpPr>
          <p:cNvPr id="25" name="Shape 23"/>
          <p:cNvSpPr/>
          <p:nvPr/>
        </p:nvSpPr>
        <p:spPr>
          <a:xfrm>
            <a:off x="6858000" y="2331720"/>
            <a:ext cx="1828800" cy="713232"/>
          </a:xfrm>
          <a:prstGeom prst="rect">
            <a:avLst/>
          </a:prstGeom>
          <a:solidFill>
            <a:srgbClr val="065A82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858000" y="2331720"/>
            <a:ext cx="1828800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robotsmart</a:t>
            </a:r>
            <a:endParaRPr lang="en-US" sz="120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ExternalQActor (8020)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577840" y="2633472"/>
            <a:ext cx="1280160" cy="0"/>
          </a:xfrm>
          <a:prstGeom prst="line">
            <a:avLst/>
          </a:prstGeom>
          <a:noFill/>
          <a:ln w="21590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5504688" y="235000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moverobot(X,Y,345)</a:t>
            </a:r>
            <a:endParaRPr lang="en-US" sz="830" dirty="0"/>
          </a:p>
        </p:txBody>
      </p:sp>
      <p:sp>
        <p:nvSpPr>
          <p:cNvPr id="29" name="Shape 27"/>
          <p:cNvSpPr/>
          <p:nvPr/>
        </p:nvSpPr>
        <p:spPr>
          <a:xfrm>
            <a:off x="6858000" y="3383280"/>
            <a:ext cx="1828800" cy="566928"/>
          </a:xfrm>
          <a:prstGeom prst="rect">
            <a:avLst/>
          </a:prstGeom>
          <a:solidFill>
            <a:srgbClr val="EEF4FA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858000" y="3383280"/>
            <a:ext cx="1828800" cy="5669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VirtualRobot</a:t>
            </a:r>
            <a:endParaRPr lang="en-US" sz="120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WebGL scene :8090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772400" y="3044952"/>
            <a:ext cx="0" cy="338328"/>
          </a:xfrm>
          <a:prstGeom prst="line">
            <a:avLst/>
          </a:prstGeom>
          <a:noFill/>
          <a:ln w="21590">
            <a:solidFill>
              <a:srgbClr val="5A6B7B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2697480" y="4069080"/>
            <a:ext cx="1691640" cy="603504"/>
          </a:xfrm>
          <a:prstGeom prst="rect">
            <a:avLst/>
          </a:prstGeom>
          <a:solidFill>
            <a:srgbClr val="2C8C5A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2697480" y="4069080"/>
            <a:ext cx="1691640" cy="6035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marker</a:t>
            </a:r>
            <a:endParaRPr lang="en-US" sz="120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slot5: barcode bcN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206240" y="3108960"/>
            <a:ext cx="-640080" cy="960120"/>
          </a:xfrm>
          <a:prstGeom prst="line">
            <a:avLst/>
          </a:prstGeom>
          <a:noFill/>
          <a:ln w="21590">
            <a:solidFill>
              <a:srgbClr val="2C8C5A"/>
            </a:solidFill>
            <a:prstDash val="solid"/>
            <a:tailEnd type="triangle"/>
          </a:ln>
        </p:spPr>
      </p:sp>
      <p:sp>
        <p:nvSpPr>
          <p:cNvPr id="35" name="Text 33"/>
          <p:cNvSpPr/>
          <p:nvPr/>
        </p:nvSpPr>
        <p:spPr>
          <a:xfrm>
            <a:off x="2331720" y="363931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2C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domark / markingDone</a:t>
            </a:r>
            <a:endParaRPr lang="en-US" sz="830" dirty="0"/>
          </a:p>
        </p:txBody>
      </p:sp>
      <p:sp>
        <p:nvSpPr>
          <p:cNvPr id="36" name="Shape 34"/>
          <p:cNvSpPr/>
          <p:nvPr/>
        </p:nvSpPr>
        <p:spPr>
          <a:xfrm>
            <a:off x="4846320" y="4160520"/>
            <a:ext cx="2377440" cy="512064"/>
          </a:xfrm>
          <a:prstGeom prst="rect">
            <a:avLst/>
          </a:prstGeom>
          <a:solidFill>
            <a:srgbClr val="EEF4FA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846320" y="4160520"/>
            <a:ext cx="2377440" cy="51206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 engaged ; emit loaddone(SLOT)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5029200" y="3108960"/>
            <a:ext cx="457200" cy="1051560"/>
          </a:xfrm>
          <a:prstGeom prst="line">
            <a:avLst/>
          </a:prstGeom>
          <a:noFill/>
          <a:ln w="21590">
            <a:solidFill>
              <a:srgbClr val="5A6B7B"/>
            </a:solidFill>
            <a:prstDash val="solid"/>
            <a:tailEnd type="triangle"/>
          </a:ln>
        </p:spPr>
      </p:sp>
      <p:sp>
        <p:nvSpPr>
          <p:cNvPr id="39" name="Text 37"/>
          <p:cNvSpPr/>
          <p:nvPr/>
        </p:nvSpPr>
        <p:spPr>
          <a:xfrm>
            <a:off x="457200" y="4864608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TemaFinale26 - cargoservice  |  A. Kreuzer  |  ISS 2025/2026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8641080" y="486460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choices (and why)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bridging the abstraction gap while staying replaceable and robust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7882128" y="310896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83296" y="310896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84464" y="310896"/>
            <a:ext cx="146304" cy="146304"/>
          </a:xfrm>
          <a:prstGeom prst="rect">
            <a:avLst/>
          </a:prstGeom>
          <a:solidFill>
            <a:srgbClr val="E8893D">
              <a:alpha val="22000"/>
            </a:srgbClr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310896"/>
            <a:ext cx="146304" cy="146304"/>
          </a:xfrm>
          <a:prstGeom prst="rect">
            <a:avLst/>
          </a:prstGeom>
          <a:solidFill>
            <a:srgbClr val="E8893D">
              <a:alpha val="22000"/>
            </a:srgbClr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234440"/>
            <a:ext cx="475488" cy="475488"/>
          </a:xfrm>
          <a:prstGeom prst="ellipse">
            <a:avLst/>
          </a:prstGeom>
          <a:solidFill>
            <a:srgbClr val="E8893D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2344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43000" y="1179576"/>
            <a:ext cx="7498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IOPort = interactive web-gui, opened by the app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pushbutton (loadrequest EVENT) + playable sensor (distance(D)) + display: the boundary is served and opened by WebIoPort (a JDK HTTP server)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121408"/>
            <a:ext cx="475488" cy="47548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1214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43000" y="2066544"/>
            <a:ext cx="7498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datum in the real device format, separate channels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sonar produces distance(D) like the PicoW (sonarMqtt.py); pushbutton and sensor on SEPARATE MQTT topics so each message is parsed by one actor only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008376"/>
            <a:ext cx="475488" cy="47548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0083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43000" y="2953512"/>
            <a:ext cx="7498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sensormonitor: from data to logical notifications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"for at least 3s" = state + time -&gt; a dedicated actor; DFREE=60 and the 3s window are PARAMETERS (to be tuned with the customer)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3895344"/>
            <a:ext cx="475488" cy="475488"/>
          </a:xfrm>
          <a:prstGeom prst="ellipse">
            <a:avLst/>
          </a:prstGeom>
          <a:solidFill>
            <a:srgbClr val="2C8C5A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38953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43000" y="3840480"/>
            <a:ext cx="7498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Robustness by design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moverobotfailed -&gt; retry / slot freed and service available; stale notifications discarded; one request at a time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4864608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TemaFinale26 - cargoservice  |  A. Kreuzer  |  ISS 2025/2026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641080" y="486460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Testing and live demo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TestPlan + interactive web-gui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7882128" y="310896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83296" y="310896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84464" y="310896"/>
            <a:ext cx="146304" cy="146304"/>
          </a:xfrm>
          <a:prstGeom prst="rect">
            <a:avLst/>
          </a:prstGeom>
          <a:solidFill>
            <a:srgbClr val="E8893D">
              <a:alpha val="22000"/>
            </a:srgbClr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85632" y="310896"/>
            <a:ext cx="146304" cy="146304"/>
          </a:xfrm>
          <a:prstGeom prst="rect">
            <a:avLst/>
          </a:prstGeom>
          <a:solidFill>
            <a:srgbClr val="E8893D">
              <a:alpha val="22000"/>
            </a:srgbClr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88720"/>
            <a:ext cx="3977640" cy="3429000"/>
          </a:xfrm>
          <a:prstGeom prst="rect">
            <a:avLst/>
          </a:prstGeom>
          <a:solidFill>
            <a:srgbClr val="EEF4FA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9844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Checks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8368" y="1627632"/>
            <a:ext cx="3611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C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TP1 (AUTOMATED, tester actor)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emits loadrequest+sonaralarm -&gt; getholdstate -&gt; *** TP1 PASS ***</a:t>
            </a:r>
            <a:endParaRPr lang="en-US" sz="115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TP-GUI  interactive IOPort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pushbutton -&gt; load; slider -&gt; presence / Out of service</a:t>
            </a:r>
            <a:endParaRPr lang="en-US" sz="115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TP5/TP6  Out of service and recovery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TP7 marking (barcode)  |  TP8 stale notifications discarded</a:t>
            </a:r>
            <a:endParaRPr lang="en-US" sz="115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Unit: TestHold 28 PASS, 0 FAIL  |  build: SUCCESS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846320" y="12344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 scenario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138928" y="1691640"/>
            <a:ext cx="0" cy="260604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56632" y="1673352"/>
            <a:ext cx="164592" cy="164592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5349240" y="16276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  </a:t>
            </a:r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OPENS the web-gui (:8095)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056632" y="2057400"/>
            <a:ext cx="164592" cy="164592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6" name="Text 14"/>
          <p:cNvSpPr/>
          <p:nvPr/>
        </p:nvSpPr>
        <p:spPr>
          <a:xfrm>
            <a:off x="5349240" y="20116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  </a:t>
            </a:r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pushbutton -&gt; reserved(slot1); LED on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56632" y="2441448"/>
            <a:ext cx="164592" cy="164592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349240" y="2395728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slider   </a:t>
            </a:r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D=20 (presence) -&gt; transport; marker bc1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56632" y="2825496"/>
            <a:ext cx="164592" cy="164592"/>
          </a:xfrm>
          <a:prstGeom prst="ellipse">
            <a:avLst/>
          </a:prstGeom>
          <a:solidFill>
            <a:srgbClr val="2C8C5A"/>
          </a:solidFill>
          <a:ln/>
        </p:spPr>
      </p:sp>
      <p:sp>
        <p:nvSpPr>
          <p:cNvPr id="20" name="Text 18"/>
          <p:cNvSpPr/>
          <p:nvPr/>
        </p:nvSpPr>
        <p:spPr>
          <a:xfrm>
            <a:off x="5349240" y="2779776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C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~40s   </a:t>
            </a:r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display: slot1=FULL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056632" y="3209544"/>
            <a:ext cx="164592" cy="164592"/>
          </a:xfrm>
          <a:prstGeom prst="ellipse">
            <a:avLst/>
          </a:prstGeom>
          <a:solidFill>
            <a:srgbClr val="2C8C5A"/>
          </a:solidFill>
          <a:ln/>
        </p:spPr>
      </p:sp>
      <p:sp>
        <p:nvSpPr>
          <p:cNvPr id="22" name="Text 20"/>
          <p:cNvSpPr/>
          <p:nvPr/>
        </p:nvSpPr>
        <p:spPr>
          <a:xfrm>
            <a:off x="5349240" y="3163824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C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  </a:t>
            </a:r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slot2, slot3, slot4 -&gt; whole hold FULL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056632" y="3593592"/>
            <a:ext cx="164592" cy="164592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4" name="Text 22"/>
          <p:cNvSpPr/>
          <p:nvPr/>
        </p:nvSpPr>
        <p:spPr>
          <a:xfrm>
            <a:off x="5349240" y="354787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slider   </a:t>
            </a:r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D=90 -&gt; 'Out of service' -&gt; retrylater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056632" y="3977640"/>
            <a:ext cx="164592" cy="16459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5349240" y="393192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   </a:t>
            </a:r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back to normal -&gt; 'serviceworking'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4809744"/>
            <a:ext cx="8229600" cy="329184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4809744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8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up  -&gt;  WebGL scene :8090 (keep it visible!)  -&gt;  robotsmart26  -&gt;  gradlew run (opens the web-gui)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641080" y="486460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882128" y="411480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83296" y="411480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84464" y="411480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85632" y="411480"/>
            <a:ext cx="146304" cy="146304"/>
          </a:xfrm>
          <a:prstGeom prst="rect">
            <a:avLst/>
          </a:prstGeom>
          <a:solidFill>
            <a:srgbClr val="E8893D"/>
          </a:solidFill>
          <a:ln w="12700">
            <a:solidFill>
              <a:srgbClr val="E889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069848"/>
            <a:ext cx="82296" cy="713232"/>
          </a:xfrm>
          <a:prstGeom prst="rect">
            <a:avLst/>
          </a:prstGeom>
          <a:solidFill>
            <a:srgbClr val="E8893D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024128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the customer's requirements are covered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IOPort (pushbutton+display) as a web-gui; LED; 30s/disengage; transport with marking+barcode; display (hold state, Service working / Out of service); sonar fault. The whole hold loads (slot1..slot4 = FULL).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1938528"/>
            <a:ext cx="82296" cy="713232"/>
          </a:xfrm>
          <a:prstGeom prst="rect">
            <a:avLst/>
          </a:prstGeom>
          <a:solidFill>
            <a:srgbClr val="E8893D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1892808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and replaceable boundary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web-gui (served and opened by the app) and the real PicoW speak the same message: you play with the sensor from the slider, the hardware takes over with no changes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02920" y="2807208"/>
            <a:ext cx="82296" cy="713232"/>
          </a:xfrm>
          <a:prstGeom prst="rect">
            <a:avLst/>
          </a:prstGeom>
          <a:solidFill>
            <a:srgbClr val="E8893D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" y="2761488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Prototypes executed/tested at every Sprint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TestHold 16/20/28 PASS; end-to-end demo; automated TP1 with the tester actor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13232" y="3675888"/>
            <a:ext cx="7955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8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from testing (rigour):  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provisional slot3=(3,2)/slot4=(5,3) fell on obstacle cells of the DDR map (tf25map) -&gt; A* returned an empty plan (the robot went to the wrong place). Positions confirmed on the customer's map: slot1=(1,1) slot2=(1,4) slot3=(3,1) slot4=(3,4) (load), slot5=(2,5) (marking). Open points to confirm: DFREE &amp; the 3s window; the Out-of-service recovery policy; the real PicoW in place of the web-gui.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4480560"/>
            <a:ext cx="8138160" cy="1828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4608576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you.  </a:t>
            </a:r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Alexander.kreuzer@studio.unibo.it   |   github.com/Alexing-uni/ISS26_Alexander_Kreuzer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TemaFinale26 - cargoservice</dc:title>
  <dc:subject>PptxGenJS Presentation</dc:subject>
  <dc:creator>Alexander Kreuzer</dc:creator>
  <cp:lastModifiedBy>Alexander Kreuzer</cp:lastModifiedBy>
  <cp:revision>1</cp:revision>
  <dcterms:created xsi:type="dcterms:W3CDTF">2026-06-17T17:55:42Z</dcterms:created>
  <dcterms:modified xsi:type="dcterms:W3CDTF">2026-06-17T17:55:42Z</dcterms:modified>
</cp:coreProperties>
</file>